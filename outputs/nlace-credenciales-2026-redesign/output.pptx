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7fb2eb94c4017" /><Relationship Type="http://schemas.openxmlformats.org/officeDocument/2006/relationships/extended-properties" Target="/docProps/app.xml" Id="R953dbe9b1b994618" /><Relationship Type="http://schemas.openxmlformats.org/officeDocument/2006/relationships/officeDocument" Target="/ppt/presentation.xml" Id="R2d7a6100bf2344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c066b9cab1432c"/>
  </p:sldMasterIdLst>
  <p:notesMasterIdLst>
    <p:notesMasterId xmlns:r="http://schemas.openxmlformats.org/officeDocument/2006/relationships" r:id="R6622662a1fc7434b"/>
  </p:notesMasterIdLst>
  <p:sldIdLst>
    <p:sldId xmlns:r="http://schemas.openxmlformats.org/officeDocument/2006/relationships" id="256" r:id="R2fd2238e3b9d40e7"/>
    <p:sldId xmlns:r="http://schemas.openxmlformats.org/officeDocument/2006/relationships" id="257" r:id="Rd15993baa46d4d6a"/>
    <p:sldId xmlns:r="http://schemas.openxmlformats.org/officeDocument/2006/relationships" id="258" r:id="Rb6e14b2938b94fb2"/>
    <p:sldId xmlns:r="http://schemas.openxmlformats.org/officeDocument/2006/relationships" id="259" r:id="R126d2dda87f54f88"/>
    <p:sldId xmlns:r="http://schemas.openxmlformats.org/officeDocument/2006/relationships" id="260" r:id="Re505475129444528"/>
    <p:sldId xmlns:r="http://schemas.openxmlformats.org/officeDocument/2006/relationships" id="261" r:id="R0d1fae74c9894895"/>
    <p:sldId xmlns:r="http://schemas.openxmlformats.org/officeDocument/2006/relationships" id="262" r:id="Rbdbd1a41837241a5"/>
    <p:sldId xmlns:r="http://schemas.openxmlformats.org/officeDocument/2006/relationships" id="263" r:id="R9d732f0c461d4126"/>
    <p:sldId xmlns:r="http://schemas.openxmlformats.org/officeDocument/2006/relationships" id="264" r:id="R746c470207eb4c63"/>
    <p:sldId xmlns:r="http://schemas.openxmlformats.org/officeDocument/2006/relationships" id="265" r:id="R9e365db98b5f4ff1"/>
    <p:sldId xmlns:r="http://schemas.openxmlformats.org/officeDocument/2006/relationships" id="266" r:id="R099d31707cc64b5a"/>
    <p:sldId xmlns:r="http://schemas.openxmlformats.org/officeDocument/2006/relationships" id="267" r:id="Ra56992126bb74dca"/>
    <p:sldId xmlns:r="http://schemas.openxmlformats.org/officeDocument/2006/relationships" id="268" r:id="R56768de0e59f4471"/>
    <p:sldId xmlns:r="http://schemas.openxmlformats.org/officeDocument/2006/relationships" id="269" r:id="R6c2f1258a7984097"/>
    <p:sldId xmlns:r="http://schemas.openxmlformats.org/officeDocument/2006/relationships" id="270" r:id="R1b7a9dd2b10b45d1"/>
    <p:sldId xmlns:r="http://schemas.openxmlformats.org/officeDocument/2006/relationships" id="271" r:id="R11c7856b474b41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066b9cab1432c" /><Relationship Type="http://schemas.openxmlformats.org/officeDocument/2006/relationships/theme" Target="/ppt/theme/theme1.xml" Id="R87479a7d77904cd3" /><Relationship Type="http://schemas.openxmlformats.org/officeDocument/2006/relationships/notesMaster" Target="/ppt/notesMasters/notesMaster1.xml" Id="R6622662a1fc7434b" /><Relationship Type="http://schemas.openxmlformats.org/officeDocument/2006/relationships/presProps" Target="/ppt/presProps.xml" Id="R2b01bd51e9144194" /><Relationship Type="http://schemas.openxmlformats.org/officeDocument/2006/relationships/viewProps" Target="/ppt/viewProps.xml" Id="R89833391a46f4a64" /><Relationship Type="http://schemas.openxmlformats.org/officeDocument/2006/relationships/tableStyles" Target="/ppt/tableStyles.xml" Id="R9ceae5ba441849e1" /><Relationship Type="http://schemas.openxmlformats.org/officeDocument/2006/relationships/slide" Target="/ppt/slides/slide1.xml" Id="R2fd2238e3b9d40e7" /><Relationship Type="http://schemas.openxmlformats.org/officeDocument/2006/relationships/slide" Target="/ppt/slides/slide2.xml" Id="Rd15993baa46d4d6a" /><Relationship Type="http://schemas.openxmlformats.org/officeDocument/2006/relationships/slide" Target="/ppt/slides/slide3.xml" Id="Rb6e14b2938b94fb2" /><Relationship Type="http://schemas.openxmlformats.org/officeDocument/2006/relationships/slide" Target="/ppt/slides/slide4.xml" Id="R126d2dda87f54f88" /><Relationship Type="http://schemas.openxmlformats.org/officeDocument/2006/relationships/slide" Target="/ppt/slides/slide5.xml" Id="Re505475129444528" /><Relationship Type="http://schemas.openxmlformats.org/officeDocument/2006/relationships/slide" Target="/ppt/slides/slide6.xml" Id="R0d1fae74c9894895" /><Relationship Type="http://schemas.openxmlformats.org/officeDocument/2006/relationships/slide" Target="/ppt/slides/slide7.xml" Id="Rbdbd1a41837241a5" /><Relationship Type="http://schemas.openxmlformats.org/officeDocument/2006/relationships/slide" Target="/ppt/slides/slide8.xml" Id="R9d732f0c461d4126" /><Relationship Type="http://schemas.openxmlformats.org/officeDocument/2006/relationships/slide" Target="/ppt/slides/slide9.xml" Id="R746c470207eb4c63" /><Relationship Type="http://schemas.openxmlformats.org/officeDocument/2006/relationships/slide" Target="/ppt/slides/slide10.xml" Id="R9e365db98b5f4ff1" /><Relationship Type="http://schemas.openxmlformats.org/officeDocument/2006/relationships/slide" Target="/ppt/slides/slide11.xml" Id="R099d31707cc64b5a" /><Relationship Type="http://schemas.openxmlformats.org/officeDocument/2006/relationships/slide" Target="/ppt/slides/slide12.xml" Id="Ra56992126bb74dca" /><Relationship Type="http://schemas.openxmlformats.org/officeDocument/2006/relationships/slide" Target="/ppt/slides/slide13.xml" Id="R56768de0e59f4471" /><Relationship Type="http://schemas.openxmlformats.org/officeDocument/2006/relationships/slide" Target="/ppt/slides/slide14.xml" Id="R6c2f1258a7984097" /><Relationship Type="http://schemas.openxmlformats.org/officeDocument/2006/relationships/slide" Target="/ppt/slides/slide15.xml" Id="R1b7a9dd2b10b45d1" /><Relationship Type="http://schemas.openxmlformats.org/officeDocument/2006/relationships/slide" Target="/ppt/slides/slide16.xml" Id="R11c7856b474b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5b9ad48ece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89bf10eb29469c" /><Relationship Type="http://schemas.openxmlformats.org/officeDocument/2006/relationships/notesMaster" Target="/ppt/notesMasters/notesMaster1.xml" Id="R96394e06b4b444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7ae0e504b04a48" /><Relationship Type="http://schemas.openxmlformats.org/officeDocument/2006/relationships/notesMaster" Target="/ppt/notesMasters/notesMaster1.xml" Id="R240d8811b7c94e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c1350c3dce4335" /><Relationship Type="http://schemas.openxmlformats.org/officeDocument/2006/relationships/notesMaster" Target="/ppt/notesMasters/notesMaster1.xml" Id="R4854b443914748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335464c4954098" /><Relationship Type="http://schemas.openxmlformats.org/officeDocument/2006/relationships/notesMaster" Target="/ppt/notesMasters/notesMaster1.xml" Id="Rc265e289345944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96891c982b4a99" /><Relationship Type="http://schemas.openxmlformats.org/officeDocument/2006/relationships/notesMaster" Target="/ppt/notesMasters/notesMaster1.xml" Id="R3463cd93b87e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08fc9aeb24df2" /><Relationship Type="http://schemas.openxmlformats.org/officeDocument/2006/relationships/notesMaster" Target="/ppt/notesMasters/notesMaster1.xml" Id="Rb2d7955cb4974a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9c8efcce214fe9" /><Relationship Type="http://schemas.openxmlformats.org/officeDocument/2006/relationships/notesMaster" Target="/ppt/notesMasters/notesMaster1.xml" Id="Rf6ab37b4655f46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2b521eb668402e" /><Relationship Type="http://schemas.openxmlformats.org/officeDocument/2006/relationships/notesMaster" Target="/ppt/notesMasters/notesMaster1.xml" Id="R11663045dc8248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5c27cb6e0c44ae" /><Relationship Type="http://schemas.openxmlformats.org/officeDocument/2006/relationships/notesMaster" Target="/ppt/notesMasters/notesMaster1.xml" Id="R254b191c458d46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7047de507d4a2e" /><Relationship Type="http://schemas.openxmlformats.org/officeDocument/2006/relationships/notesMaster" Target="/ppt/notesMasters/notesMaster1.xml" Id="R5f425b579ebe48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42229673b04fe4" /><Relationship Type="http://schemas.openxmlformats.org/officeDocument/2006/relationships/notesMaster" Target="/ppt/notesMasters/notesMaster1.xml" Id="R9cf10a108f1e47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6e66fc9fb6415b" /><Relationship Type="http://schemas.openxmlformats.org/officeDocument/2006/relationships/notesMaster" Target="/ppt/notesMasters/notesMaster1.xml" Id="R34d5cf549f9f43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73cbd7d32d494d" /><Relationship Type="http://schemas.openxmlformats.org/officeDocument/2006/relationships/notesMaster" Target="/ppt/notesMasters/notesMaster1.xml" Id="R4baf88a90ca54f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8d0f7f141b4690" /><Relationship Type="http://schemas.openxmlformats.org/officeDocument/2006/relationships/notesMaster" Target="/ppt/notesMasters/notesMaster1.xml" Id="Rcd7a6f17628249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33691c5a094733" /><Relationship Type="http://schemas.openxmlformats.org/officeDocument/2006/relationships/notesMaster" Target="/ppt/notesMasters/notesMaster1.xml" Id="R1140cc2a38064e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a1c61408894f93" /><Relationship Type="http://schemas.openxmlformats.org/officeDocument/2006/relationships/notesMaster" Target="/ppt/notesMasters/notesMaster1.xml" Id="Rb041844d8ba54b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282cfebd94bd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8000692-F802-43C2-96F0-6CF1A258AF5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8206B4D-43AE-46DB-8DA7-E48E8FD12C9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A58191-72B5-438C-8F4C-17B14778A0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17FF74-1E5A-47CB-9014-E4F70DE1ADE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204c99de9364f23" /><Relationship Type="http://schemas.openxmlformats.org/officeDocument/2006/relationships/slideLayout" Target="/ppt/slideLayouts/slideLayout2.xml" Id="R016630994cd1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6695FC-66CE-4591-822C-5802EF6CDE4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630994cd1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7ab510c9af4b69" /><Relationship Type="http://schemas.openxmlformats.org/officeDocument/2006/relationships/image" Target="/ppt/media/image.jpeg" Id="Re24a22b03b384ffa" /><Relationship Type="http://schemas.openxmlformats.org/officeDocument/2006/relationships/image" Target="/ppt/media/image.bin" Id="Reb91dc1d8f2f4dc4" /><Relationship Type="http://schemas.openxmlformats.org/officeDocument/2006/relationships/image" Target="/ppt/media/image2.bin" Id="Rdbc9c3802b314146" /><Relationship Type="http://schemas.openxmlformats.org/officeDocument/2006/relationships/notesSlide" Target="/ppt/notesSlides/notesSlide1.xml" Id="Rdafbdfd36222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35387ef2124eac" /><Relationship Type="http://schemas.openxmlformats.org/officeDocument/2006/relationships/notesSlide" Target="/ppt/notesSlides/notesSlide2.xml" Id="R5e9c589ed0c248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1a62b1bc842bf" /><Relationship Type="http://schemas.openxmlformats.org/officeDocument/2006/relationships/notesSlide" Target="/ppt/notesSlides/notesSlide3.xml" Id="R254806a0babf47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d127e9b404f19" /><Relationship Type="http://schemas.openxmlformats.org/officeDocument/2006/relationships/notesSlide" Target="/ppt/notesSlides/notesSlide4.xml" Id="R1f58edfe9143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4b70acdb6543a0" /><Relationship Type="http://schemas.openxmlformats.org/officeDocument/2006/relationships/image" Target="/ppt/media/image2.jpeg" Id="R09beee64cde34268" /><Relationship Type="http://schemas.openxmlformats.org/officeDocument/2006/relationships/image" Target="/ppt/media/image3.bin" Id="R1f9b72b786704fa0" /><Relationship Type="http://schemas.openxmlformats.org/officeDocument/2006/relationships/image" Target="/ppt/media/image4.bin" Id="Rd4bf5597efdf4d05" /><Relationship Type="http://schemas.openxmlformats.org/officeDocument/2006/relationships/image" Target="/ppt/media/image5.bin" Id="R80cd1d5a7d2348e2" /><Relationship Type="http://schemas.openxmlformats.org/officeDocument/2006/relationships/image" Target="/ppt/media/image6.bin" Id="Rae669a2b889c4379" /><Relationship Type="http://schemas.openxmlformats.org/officeDocument/2006/relationships/image" Target="/ppt/media/image7.bin" Id="R9594dffb779248de" /><Relationship Type="http://schemas.openxmlformats.org/officeDocument/2006/relationships/notesSlide" Target="/ppt/notesSlides/notesSlide5.xml" Id="Rb21df791047b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bff7e759584260" /><Relationship Type="http://schemas.openxmlformats.org/officeDocument/2006/relationships/notesSlide" Target="/ppt/notesSlides/notesSlide6.xml" Id="Re79ea4fa35534c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9d7fec21db49b8" /><Relationship Type="http://schemas.openxmlformats.org/officeDocument/2006/relationships/image" Target="/ppt/media/image3.jpeg" Id="Rfbd10fc73670494a" /><Relationship Type="http://schemas.openxmlformats.org/officeDocument/2006/relationships/image" Target="/ppt/media/image8.bin" Id="Re68c4727929b4d3f" /><Relationship Type="http://schemas.openxmlformats.org/officeDocument/2006/relationships/image" Target="/ppt/media/image9.bin" Id="R09e8c6adac5a4431" /><Relationship Type="http://schemas.openxmlformats.org/officeDocument/2006/relationships/image" Target="/ppt/media/image10.bin" Id="Rffa0ebcb2f2043b4" /><Relationship Type="http://schemas.openxmlformats.org/officeDocument/2006/relationships/image" Target="/ppt/media/image11.bin" Id="R44cca7ce79534e44" /><Relationship Type="http://schemas.openxmlformats.org/officeDocument/2006/relationships/notesSlide" Target="/ppt/notesSlides/notesSlide7.xml" Id="R8852039eb9924b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db8f765fb46bb" /><Relationship Type="http://schemas.openxmlformats.org/officeDocument/2006/relationships/image" Target="/ppt/media/image12.bin" Id="R3583d5dd724f49aa" /><Relationship Type="http://schemas.openxmlformats.org/officeDocument/2006/relationships/image" Target="/ppt/media/image4.jpeg" Id="R4fc2c6442ee34a15" /><Relationship Type="http://schemas.openxmlformats.org/officeDocument/2006/relationships/image" Target="/ppt/media/image13.bin" Id="R8db3364f459e4183" /><Relationship Type="http://schemas.openxmlformats.org/officeDocument/2006/relationships/notesSlide" Target="/ppt/notesSlides/notesSlide8.xml" Id="R3be49567291e44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f1df7184544d6c" /><Relationship Type="http://schemas.openxmlformats.org/officeDocument/2006/relationships/image" Target="/ppt/media/image5.jpeg" Id="R632910d86ad34058" /><Relationship Type="http://schemas.openxmlformats.org/officeDocument/2006/relationships/notesSlide" Target="/ppt/notesSlides/notesSlide9.xml" Id="R9de4be8c6e0143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e6257c14644411" /><Relationship Type="http://schemas.openxmlformats.org/officeDocument/2006/relationships/notesSlide" Target="/ppt/notesSlides/notesSlide10.xml" Id="R6aeb756c9c3841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134514d724c29" /><Relationship Type="http://schemas.openxmlformats.org/officeDocument/2006/relationships/image" Target="/ppt/media/image14.bin" Id="R131043018d304b7f" /><Relationship Type="http://schemas.openxmlformats.org/officeDocument/2006/relationships/image" Target="/ppt/media/image6.jpeg" Id="R4d25cc0358f9448c" /><Relationship Type="http://schemas.openxmlformats.org/officeDocument/2006/relationships/image" Target="/ppt/media/image15.bin" Id="R7705adeb3fc342a1" /><Relationship Type="http://schemas.openxmlformats.org/officeDocument/2006/relationships/image" Target="/ppt/media/image16.bin" Id="R7741d624ed9f463d" /><Relationship Type="http://schemas.openxmlformats.org/officeDocument/2006/relationships/image" Target="/ppt/media/image17.bin" Id="R7d53e40a250d47d9" /><Relationship Type="http://schemas.openxmlformats.org/officeDocument/2006/relationships/notesSlide" Target="/ppt/notesSlides/notesSlide11.xml" Id="R734f776fe16544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27dff6c13d4218" /><Relationship Type="http://schemas.openxmlformats.org/officeDocument/2006/relationships/notesSlide" Target="/ppt/notesSlides/notesSlide12.xml" Id="Ra7afe640db5048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546a61b0d744ee" /><Relationship Type="http://schemas.openxmlformats.org/officeDocument/2006/relationships/notesSlide" Target="/ppt/notesSlides/notesSlide13.xml" Id="R850d49bca15d41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b32a8e129445b7" /><Relationship Type="http://schemas.openxmlformats.org/officeDocument/2006/relationships/image" Target="/ppt/media/image18.bin" Id="R52a2ba264eca4512" /><Relationship Type="http://schemas.openxmlformats.org/officeDocument/2006/relationships/image" Target="/ppt/media/image7.jpeg" Id="R12b4f4a624f84485" /><Relationship Type="http://schemas.openxmlformats.org/officeDocument/2006/relationships/image" Target="/ppt/media/image19.bin" Id="Rcdb5263a71384c69" /><Relationship Type="http://schemas.openxmlformats.org/officeDocument/2006/relationships/image" Target="/ppt/media/image20.bin" Id="R271ad6e1b8454cd3" /><Relationship Type="http://schemas.openxmlformats.org/officeDocument/2006/relationships/image" Target="/ppt/media/image21.bin" Id="R6252b027cd6f4d16" /><Relationship Type="http://schemas.openxmlformats.org/officeDocument/2006/relationships/image" Target="/ppt/media/image22.bin" Id="R8c889604ec2440bd" /><Relationship Type="http://schemas.openxmlformats.org/officeDocument/2006/relationships/notesSlide" Target="/ppt/notesSlides/notesSlide14.xml" Id="R37d807f3d8ec4e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06ba409eb640ef" /><Relationship Type="http://schemas.openxmlformats.org/officeDocument/2006/relationships/image" Target="/ppt/media/image23.bin" Id="R9543cae586b34d7c" /><Relationship Type="http://schemas.openxmlformats.org/officeDocument/2006/relationships/image" Target="/ppt/media/image8.jpeg" Id="Reebacac1f243400e" /><Relationship Type="http://schemas.openxmlformats.org/officeDocument/2006/relationships/notesSlide" Target="/ppt/notesSlides/notesSlide15.xml" Id="R8c8044c375f34b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80b0c0bbe4ed9" /><Relationship Type="http://schemas.openxmlformats.org/officeDocument/2006/relationships/image" Target="/ppt/media/image24.bin" Id="Re9da5d62c82b4efc" /><Relationship Type="http://schemas.openxmlformats.org/officeDocument/2006/relationships/image" Target="/ppt/media/image25.bin" Id="R5efcfbd3b35c4225" /><Relationship Type="http://schemas.openxmlformats.org/officeDocument/2006/relationships/image" Target="/ppt/media/image26.bin" Id="Ra57c0510ef2245fc" /><Relationship Type="http://schemas.openxmlformats.org/officeDocument/2006/relationships/notesSlide" Target="/ppt/notesSlides/notesSlide16.xml" Id="R541f4057c9af4a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09C8A-CD99-4FF9-90C7-FCF18392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a22b03b384ffa"/>
          <a:srcRect xmlns:a="http://schemas.openxmlformats.org/drawingml/2006/main" l="21488" t="0" r="214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0"/>
            <a:ext cx="58674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55601-4AE7-482D-ABFC-9D8675FE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0"/>
            <a:ext cx="5867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9F7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1dc1d8f2f4dc4"/>
          <a:stretch xmlns:a="http://schemas.openxmlformats.org/drawingml/2006/main"/>
        </p:blipFill>
        <p:spPr>
          <a:xfrm xmlns:a="http://schemas.openxmlformats.org/drawingml/2006/main">
            <a:off x="685800" y="514350"/>
            <a:ext cx="1257300" cy="266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05357-D39D-4A6A-B383-48C7C87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ENERO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38611-5935-443B-BE0D-3554CCB1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1011"/>
                </a:solidFill>
              </a:defRPr>
            </a:pPr>
            <a:r>
              <a:rPr sz="4200" b="1">
                <a:solidFill>
                  <a:srgbClr val="0F1011"/>
                </a:solidFill>
              </a:rPr>
              <a:t>Credenciales</a:t>
            </a:r>
          </a:p>
          <a:p xmlns:a="http://schemas.openxmlformats.org/drawingml/2006/main">
            <a:pPr algn="l">
              <a:defRPr sz="4200" b="1">
                <a:solidFill>
                  <a:srgbClr val="0F1011"/>
                </a:solidFill>
              </a:defRPr>
            </a:pPr>
            <a:r>
              <a:rPr sz="4200" b="1">
                <a:solidFill>
                  <a:srgbClr val="0F1011"/>
                </a:solidFill>
              </a:rPr>
              <a:t>NLACE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4188B-0545-4B4A-AFDC-D37050E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F3F46"/>
                </a:solidFill>
              </a:defRPr>
            </a:pPr>
            <a:r>
              <a:rPr sz="1800" b="0">
                <a:solidFill>
                  <a:srgbClr val="3F3F46"/>
                </a:solidFill>
              </a:rPr>
              <a:t>Estrategia, tecnología y contenido para empresas que están redefiniendo cómo comunican, venden y aprenden.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F5EC4-53DE-4642-9658-B7F62B8E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9c3802b314146"/>
          <a:stretch xmlns:a="http://schemas.openxmlformats.org/drawingml/2006/main"/>
        </p:blipFill>
        <p:spPr>
          <a:xfrm xmlns:a="http://schemas.openxmlformats.org/drawingml/2006/main">
            <a:off x="781050" y="5010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7F00D-7901-4588-9700-0E789B1C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011"/>
                </a:solidFill>
              </a:defRPr>
            </a:pPr>
            <a:r>
              <a:rPr sz="1350" b="1">
                <a:solidFill>
                  <a:srgbClr val="0F1011"/>
                </a:solidFill>
              </a:rPr>
              <a:t>Sistemas comerciales, automatización e IA aplicada.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DE6C8-C80F-4B84-82D5-9D2C128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800100"/>
            <a:ext cx="4495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9525">
            <a:solidFill>
              <a:srgbClr val="FFFFFF">
                <a:alpha val="18431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4DEB6-B233-4A62-8DFC-30E19B04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0477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Conectamos lo que tu empresa necesita para vender mejor.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BA2F7-7072-48A7-99B1-85992DA6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marketing y ventas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2105B-B26C-4EF1-AEC6-EDD3D1C4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software propio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906ED-F7E4-44ED-8963-DD231E6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054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automatización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5D9F9-C2B2-4C64-8B81-280BBCC2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IA aplicada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BA816-9D6A-457B-8731-369D5B56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245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contenido y sistemas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560A5-8EE2-4C53-BF92-E6BE29F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8A579-3FD4-4E41-A52B-671F91BB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19260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CFFBB-D10C-4A84-AB13-2C692290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F8595-0A3A-4A88-B7B2-665BAEE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QUÉ HACEMOS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5B65E-78C9-48BA-99F5-947B7EC5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485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011"/>
                </a:solidFill>
              </a:defRPr>
            </a:pPr>
            <a:r>
              <a:rPr sz="3000" b="1">
                <a:solidFill>
                  <a:srgbClr val="0F1011"/>
                </a:solidFill>
              </a:rPr>
              <a:t>Conectamos marketing,</a:t>
            </a:r>
          </a:p>
          <a:p xmlns:a="http://schemas.openxmlformats.org/drawingml/2006/main">
            <a:pPr algn="l">
              <a:defRPr sz="3000" b="1">
                <a:solidFill>
                  <a:srgbClr val="0F1011"/>
                </a:solidFill>
              </a:defRPr>
            </a:pPr>
            <a:r>
              <a:rPr sz="3000" b="1">
                <a:solidFill>
                  <a:srgbClr val="0F1011"/>
                </a:solidFill>
              </a:rPr>
              <a:t>ventas y datos en</a:t>
            </a:r>
          </a:p>
          <a:p xmlns:a="http://schemas.openxmlformats.org/drawingml/2006/main">
            <a:pPr algn="l">
              <a:defRPr sz="3000" b="1">
                <a:solidFill>
                  <a:srgbClr val="0F1011"/>
                </a:solidFill>
              </a:defRPr>
            </a:pPr>
            <a:r>
              <a:rPr sz="3000" b="1">
                <a:solidFill>
                  <a:srgbClr val="0F1011"/>
                </a:solidFill>
              </a:rPr>
              <a:t>sistemas comerciales.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13326-9042-4C8E-8FDD-57ACEFA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66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F3F46"/>
                </a:solidFill>
              </a:defRPr>
            </a:pPr>
            <a:r>
              <a:rPr sz="1500" b="0">
                <a:solidFill>
                  <a:srgbClr val="3F3F46"/>
                </a:solidFill>
              </a:rPr>
              <a:t>Combinamos estrategia, software propio e inteligencia artificial para convertir procesos comerciales dispersos en una operación más clara, medible y escalable.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70A21-77C5-41C6-B504-F3898EB3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876300"/>
            <a:ext cx="5391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9F1DE-3083-4154-9FDB-23A4A290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23950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869F7"/>
                </a:solidFill>
              </a:defRPr>
            </a:pPr>
            <a:r>
              <a:rPr sz="3150" b="1">
                <a:solidFill>
                  <a:srgbClr val="5869F7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4D2FB-2D2C-41A8-B911-BE2AAB6D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430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011"/>
                </a:solidFill>
              </a:defRPr>
            </a:pPr>
            <a:r>
              <a:rPr sz="1875" b="1">
                <a:solidFill>
                  <a:srgbClr val="0F1011"/>
                </a:solidFill>
              </a:rPr>
              <a:t>Ordenamos tu proceso comercial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79C91-26B9-48A5-8A95-7BBE6A22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17A"/>
                </a:solidFill>
              </a:defRPr>
            </a:pPr>
            <a:r>
              <a:rPr sz="1275" b="0">
                <a:solidFill>
                  <a:srgbClr val="71717A"/>
                </a:solidFill>
              </a:rPr>
              <a:t>Detectamos fricciones, prioridades y puntos de decisión para construir un sistema con lógica de negocio.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47CA0-4481-4737-AEAC-A16D6B8C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391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81654-9600-4ADF-AF35-4DB3B6F9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1A1AA"/>
                </a:solidFill>
              </a:defRPr>
            </a:pPr>
            <a:r>
              <a:rPr sz="3150" b="1">
                <a:solidFill>
                  <a:srgbClr val="A1A1A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D8801-931C-4990-9980-071952A7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956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011"/>
                </a:solidFill>
              </a:defRPr>
            </a:pPr>
            <a:r>
              <a:rPr sz="1875" b="1">
                <a:solidFill>
                  <a:srgbClr val="0F1011"/>
                </a:solidFill>
              </a:rPr>
              <a:t>Instalamos tecnología que automatiza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A010F-43E3-4D55-9CA1-14139860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17A"/>
                </a:solidFill>
              </a:defRPr>
            </a:pPr>
            <a:r>
              <a:rPr sz="1275" b="0">
                <a:solidFill>
                  <a:srgbClr val="71717A"/>
                </a:solidFill>
              </a:rPr>
              <a:t>Integramos herramientas, datos, CRM, ERP y agentes para reducir tiempos, errores y dependencia operativa.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D93CA-58BD-4F7A-A522-78BABBF5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5391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DAF0D-9895-4CBC-A06C-B4F5B3A3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9150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1A1AA"/>
                </a:solidFill>
              </a:defRPr>
            </a:pPr>
            <a:r>
              <a:rPr sz="3150" b="1">
                <a:solidFill>
                  <a:srgbClr val="A1A1A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5893D-4CDF-4994-8448-D961AF0E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011"/>
                </a:solidFill>
              </a:defRPr>
            </a:pPr>
            <a:r>
              <a:rPr sz="1875" b="1">
                <a:solidFill>
                  <a:srgbClr val="0F1011"/>
                </a:solidFill>
              </a:rPr>
              <a:t>Acompañamos la ejecución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A2F66-6941-4591-BA91-BA804868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17A"/>
                </a:solidFill>
              </a:defRPr>
            </a:pPr>
            <a:r>
              <a:rPr sz="1275" b="0">
                <a:solidFill>
                  <a:srgbClr val="71717A"/>
                </a:solidFill>
              </a:rPr>
              <a:t>No dejamos la solución sola. Medimos, ajustamos y acompañamos la adopción hasta generar resultados sostenibles.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376A4-5AEB-4ECB-9626-45F41693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CB18E-E821-4849-B563-4D5C5355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46264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D7480-3E93-4DCD-A24B-7F1A529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BF9C2-CBD1-4DF2-A3DB-C97A9C6B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IMPACTO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7528B-D05E-4965-B071-90FD3891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011"/>
                </a:solidFill>
              </a:defRPr>
            </a:pPr>
            <a:r>
              <a:rPr sz="3150" b="1">
                <a:solidFill>
                  <a:srgbClr val="0F1011"/>
                </a:solidFill>
              </a:rPr>
              <a:t>Eficiencia que genera valor.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C212D-9134-4906-9809-77B5C02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17A"/>
                </a:solidFill>
              </a:defRPr>
            </a:pPr>
            <a:r>
              <a:rPr sz="1500" b="0">
                <a:solidFill>
                  <a:srgbClr val="71717A"/>
                </a:solidFill>
              </a:rPr>
              <a:t>No se trata de hacer más con menos. Se trata de hacer lo necesario con inteligencia.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2AA48-295E-49E3-8E70-90BA65C8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3909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5AE4E-BF9D-41BF-A520-7256639C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10F4B-18DA-48ED-816C-D19F481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Reducimos costos operativos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D2941-B106-4A86-8DF8-1BC41D2B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6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6000"/>
                  </a:srgbClr>
                </a:solidFill>
              </a:rPr>
              <a:t>Automatizamos tareas, optimizamos recursos y eliminamos fricciones en procesos digitales.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72FD8-503D-4D24-8E4F-F883F8CE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33909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A5B38-0695-4182-94ED-4C9D93F9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57DD9-305B-4BBA-B545-C98C912B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Aumentamos ingresos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90278-F954-4B00-B38D-698F505E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6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6000"/>
                  </a:srgbClr>
                </a:solidFill>
              </a:rPr>
              <a:t>Diseñamos sistemas que fortalecen adquisición, conversión y retención de clientes.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D9E80-0C70-4799-8B51-D3DA0A1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33909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42C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10E6F-1205-45E1-AC38-220757A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011"/>
                </a:solidFill>
              </a:defRPr>
            </a:pPr>
            <a:r>
              <a:rPr sz="2550" b="1">
                <a:solidFill>
                  <a:srgbClr val="0F1011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1E9F4-9D95-4B43-BC05-F180FB9B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011"/>
                </a:solidFill>
              </a:defRPr>
            </a:pPr>
            <a:r>
              <a:rPr sz="2100" b="1">
                <a:solidFill>
                  <a:srgbClr val="0F1011"/>
                </a:solidFill>
              </a:rPr>
              <a:t>Mejoramos servicios y experiencias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DF2B8-E425-46B2-B898-2728E69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011">
                    <a:alpha val="78000"/>
                  </a:srgbClr>
                </a:solidFill>
              </a:defRPr>
            </a:pPr>
            <a:r>
              <a:rPr sz="1200" b="0">
                <a:solidFill>
                  <a:srgbClr val="0F1011">
                    <a:alpha val="78000"/>
                  </a:srgbClr>
                </a:solidFill>
              </a:rPr>
              <a:t>Creamos plataformas y flujos que hacen más fácil, rápido y claro interactuar con tu empresa.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5541D-A968-442C-81FB-950E40F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4B550-D986-43F0-9EAB-68E4A73B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32764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914D1-5653-4688-BC85-83AFDDE3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C4A8A-7B7B-4DFE-BAFE-EE1BD14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OFERTA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9F37B-E0D9-40F7-9D82-45F066C7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19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Tres studios para activar</a:t>
            </a:r>
          </a:p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demanda, conocimiento y productos digitales.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142AE-CA13-47F5-A20E-2E6B6EA6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2B289-D6CF-4ECC-A4B8-450BE8AA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Demand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7EC84-6B10-4E4C-A3D9-3051E22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05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84000"/>
                  </a:srgbClr>
                </a:solidFill>
              </a:defRPr>
            </a:pPr>
            <a:r>
              <a:rPr sz="1275" b="1">
                <a:solidFill>
                  <a:srgbClr val="FFFFFF">
                    <a:alpha val="84000"/>
                  </a:srgbClr>
                </a:solidFill>
              </a:rPr>
              <a:t>Generación de demanda y marketing con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9045E-33AC-41F8-851F-7C5C8C8F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Consultoría en marketing B2B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13BA3-246D-44A5-8648-E822C2F0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Estrategia y contenido digital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BE8B0-A828-4A5F-BE01-EC316083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Generación y nutrición de leads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1CEF2-D447-4FBE-8F5C-D8199DC1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Automatización comercial y de 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1A79D-EF68-4D1D-A4C8-259F8410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CC4AB-AB78-4730-80B6-5333EFAC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IA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D6458-89DA-4E68-9D3E-D4F747A3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2705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84000"/>
                  </a:srgbClr>
                </a:solidFill>
              </a:defRPr>
            </a:pPr>
            <a:r>
              <a:rPr sz="1275" b="1">
                <a:solidFill>
                  <a:srgbClr val="FFFFFF">
                    <a:alpha val="84000"/>
                  </a:srgbClr>
                </a:solidFill>
              </a:rPr>
              <a:t>Gestión y activación del conocimiento con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88EFE-F21F-4B7C-9E84-B99BF5A6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Plataformas privadas de conocimiento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90C53-1559-4B3D-BD2E-E733314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Integración de procesos y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60E5D-FF85-4C00-88AB-EE682093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Autogestión y soporte interno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E92C3-019A-4139-87F4-34CBED82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57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Agentes inteligentes entrenados en tu negocio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48616-51F8-41C2-8354-1BBA3D7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9080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684FF-7FCB-4013-8973-FF802EA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011"/>
                </a:solidFill>
              </a:defRPr>
            </a:pPr>
            <a:r>
              <a:rPr sz="2100" b="1">
                <a:solidFill>
                  <a:srgbClr val="0F1011"/>
                </a:solidFill>
              </a:rPr>
              <a:t>Digital Studio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D8FC5-2D14-4676-A364-B1FD0F35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705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717A"/>
                </a:solidFill>
              </a:defRPr>
            </a:pPr>
            <a:r>
              <a:rPr sz="1275" b="1">
                <a:solidFill>
                  <a:srgbClr val="71717A"/>
                </a:solidFill>
              </a:rPr>
              <a:t>Proyectos y productos digitales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0BB0E-5BE8-42DE-AD0D-C8993FA2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011"/>
                </a:solidFill>
              </a:defRPr>
            </a:pPr>
            <a:r>
              <a:rPr sz="1125" b="0">
                <a:solidFill>
                  <a:srgbClr val="0F1011"/>
                </a:solidFill>
              </a:rPr>
              <a:t>• Dashboards y métricas digitales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04CEB-77E2-4645-B765-38C2F38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95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011"/>
                </a:solidFill>
              </a:defRPr>
            </a:pPr>
            <a:r>
              <a:rPr sz="1125" b="0">
                <a:solidFill>
                  <a:srgbClr val="0F1011"/>
                </a:solidFill>
              </a:rPr>
              <a:t>• Avatares y producción con 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D785A-626F-4214-8A3C-8AB2211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011"/>
                </a:solidFill>
              </a:defRPr>
            </a:pPr>
            <a:r>
              <a:rPr sz="1125" b="0">
                <a:solidFill>
                  <a:srgbClr val="0F1011"/>
                </a:solidFill>
              </a:rPr>
              <a:t>• Microservicios y productos digitales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8DF43-795F-48A0-87B2-F1D07F4D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011"/>
                </a:solidFill>
              </a:defRPr>
            </a:pPr>
            <a:r>
              <a:rPr sz="1125" b="0">
                <a:solidFill>
                  <a:srgbClr val="0F1011"/>
                </a:solidFill>
              </a:rPr>
              <a:t>• Sitios web y plataformas integradas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A4943-6507-48CE-A455-1C853F15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574F2-D3CA-49D1-9392-C3F0E8A4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28781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01984-A886-4E53-B9B7-1D6BB0D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eee64cde34268"/>
          <a:srcRect xmlns:a="http://schemas.openxmlformats.org/drawingml/2006/main" l="29542" t="0" r="295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2100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11638-006E-4651-B67E-10C919C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1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011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16BDC-B4D4-4A9D-BB66-4FF9570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65000"/>
                  </a:srgbClr>
                </a:solidFill>
              </a:defRPr>
            </a:pPr>
            <a:r>
              <a:rPr sz="825" b="0">
                <a:solidFill>
                  <a:srgbClr val="FFFFFF">
                    <a:alpha val="65000"/>
                  </a:srgbClr>
                </a:solidFill>
              </a:rPr>
              <a:t>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CB0DC-03D1-44F1-ADC7-197DC73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857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Combinamos estrategia,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diseño y tecnología.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84DCE-5A16-4640-9AF5-CA581952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4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4000"/>
                  </a:srgbClr>
                </a:solidFill>
              </a:rPr>
              <a:t>Tecnología responsable, decisiones transparentes y soluciones medibles para el negocio.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28795-2A00-4ECB-B666-A64BA43B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b72b786704fa0"/>
          <a:stretch xmlns:a="http://schemas.openxmlformats.org/drawingml/2006/main"/>
        </p:blipFill>
        <p:spPr>
          <a:xfrm xmlns:a="http://schemas.openxmlformats.org/drawingml/2006/main">
            <a:off x="723900" y="55245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1D13D-3A10-467D-8F12-4F97A681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Ética y confianza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como base de implementación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28A35-59D6-4BD5-8926-ED61FD52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48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TECNOLOGÍA RESPONSABLE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12BE1-BFFD-4AFC-961E-B9124CF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28700"/>
            <a:ext cx="607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011"/>
                </a:solidFill>
              </a:defRPr>
            </a:pPr>
            <a:r>
              <a:rPr sz="1650" b="1">
                <a:solidFill>
                  <a:srgbClr val="0F1011"/>
                </a:solidFill>
              </a:rPr>
              <a:t>Nos regimos por principios alineados con la recomendación de la UNESCO sobre ética de la 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B72C6-D570-4CA6-BC6A-5EB6772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781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3A039-79DD-4FB3-9556-BD2C7C7D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f5597efdf4d05"/>
          <a:stretch xmlns:a="http://schemas.openxmlformats.org/drawingml/2006/main"/>
        </p:blipFill>
        <p:spPr>
          <a:xfrm xmlns:a="http://schemas.openxmlformats.org/drawingml/2006/main">
            <a:off x="4991100" y="2381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BA582-D57E-411E-A7F0-75C130F1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860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011"/>
                </a:solidFill>
              </a:defRPr>
            </a:pPr>
            <a:r>
              <a:rPr sz="1425" b="1">
                <a:solidFill>
                  <a:srgbClr val="0F1011"/>
                </a:solidFill>
              </a:rPr>
              <a:t>Transparencia y explicabilidad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BC985-D0A1-464A-A95C-96032B7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575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717A"/>
                </a:solidFill>
              </a:defRPr>
            </a:pPr>
            <a:r>
              <a:rPr sz="1125" b="0">
                <a:solidFill>
                  <a:srgbClr val="71717A"/>
                </a:solidFill>
              </a:rPr>
              <a:t>Aseguramos que los sistemas sean comprensibles para clientes y equipos.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C3738-6335-4123-B0A3-0B94738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19300"/>
            <a:ext cx="2781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97B6D-9978-44E8-9D72-8C80631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86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d1d5a7d2348e2"/>
          <a:stretch xmlns:a="http://schemas.openxmlformats.org/drawingml/2006/main"/>
        </p:blipFill>
        <p:spPr>
          <a:xfrm xmlns:a="http://schemas.openxmlformats.org/drawingml/2006/main">
            <a:off x="8077200" y="2381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D22DF-9181-4CDD-95F1-E301C24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011"/>
                </a:solidFill>
              </a:defRPr>
            </a:pPr>
            <a:r>
              <a:rPr sz="1425" b="1">
                <a:solidFill>
                  <a:srgbClr val="0F1011"/>
                </a:solidFill>
              </a:rPr>
              <a:t>Privacidad y seguridad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67CDC-E539-45C0-BDD8-BC55369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717A"/>
                </a:solidFill>
              </a:defRPr>
            </a:pPr>
            <a:r>
              <a:rPr sz="1125" b="0">
                <a:solidFill>
                  <a:srgbClr val="71717A"/>
                </a:solidFill>
              </a:rPr>
              <a:t>Protegemos los datos y resguardamos la operación en cada integración.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B30CE-FD73-4810-A694-677BE6C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2781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6ED7F-9844-49B1-A902-58499122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624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69a2b889c4379"/>
          <a:stretch xmlns:a="http://schemas.openxmlformats.org/drawingml/2006/main"/>
        </p:blipFill>
        <p:spPr>
          <a:xfrm xmlns:a="http://schemas.openxmlformats.org/drawingml/2006/main">
            <a:off x="4991100" y="4057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B0748-3B62-44A4-91BA-5FC51D39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624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011"/>
                </a:solidFill>
              </a:defRPr>
            </a:pPr>
            <a:r>
              <a:rPr sz="1425" b="1">
                <a:solidFill>
                  <a:srgbClr val="0F1011"/>
                </a:solidFill>
              </a:rPr>
              <a:t>Equidad y no discriminación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5C3082-6259-4821-BB08-FED492D2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717A"/>
                </a:solidFill>
              </a:defRPr>
            </a:pPr>
            <a:r>
              <a:rPr sz="1125" b="0">
                <a:solidFill>
                  <a:srgbClr val="71717A"/>
                </a:solidFill>
              </a:rPr>
              <a:t>Diseñamos soluciones que evitan sesgos y promueven un uso responsable.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865B2-2B5B-40D7-8BE4-266078C4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95700"/>
            <a:ext cx="2781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A1F5C-5B6A-4454-9CDF-7F4BC7EC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4dffb779248de"/>
          <a:stretch xmlns:a="http://schemas.openxmlformats.org/drawingml/2006/main"/>
        </p:blipFill>
        <p:spPr>
          <a:xfrm xmlns:a="http://schemas.openxmlformats.org/drawingml/2006/main">
            <a:off x="8077200" y="4057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D6B20-50B4-47D4-BC75-2997A5E6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011"/>
                </a:solidFill>
              </a:defRPr>
            </a:pPr>
            <a:r>
              <a:rPr sz="1425" b="1">
                <a:solidFill>
                  <a:srgbClr val="0F1011"/>
                </a:solidFill>
              </a:rPr>
              <a:t>Responsabilidad y rendición de cuentas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B3C27-7F7D-4092-A965-91406DD1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717A"/>
                </a:solidFill>
              </a:defRPr>
            </a:pPr>
            <a:r>
              <a:rPr sz="1125" b="0">
                <a:solidFill>
                  <a:srgbClr val="71717A"/>
                </a:solidFill>
              </a:rPr>
              <a:t>Asumimos el impacto de la tecnología que implementamos.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13263-31C6-47C2-8418-236140E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103360-2737-4F46-B110-57AFF3EC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42249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F05D-F7C1-4798-A86B-3ECA1619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A0815-606C-43E4-BA96-86A2245E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NUESTRO DÍA A DÍA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CAC1D-2A23-430D-9585-A905909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Algunos ejemplos de cómo</a:t>
            </a:r>
          </a:p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se ve nuestro trabajo en operación.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93C9D-86E1-4EE0-81CE-34F58435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05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C8AEB-6FAE-4DB5-9850-642FEF80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Equipo de marketing externo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978FE-6047-4519-8DDD-EF8D1D3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4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4000"/>
                  </a:srgbClr>
                </a:solidFill>
              </a:rPr>
              <a:t>Somos el equipo de marketing externo de empresas B2B. Desarrollamos estrategia, contenidos, sitios, campañas y seguimiento de leads en HubSpot.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E7194-9C5F-4999-9C05-989836F5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105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67416-DAE7-4F87-B200-E7383372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0510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Automatización de procesos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5D760-B88D-4841-8554-898969C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4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4000"/>
                  </a:srgbClr>
                </a:solidFill>
              </a:rPr>
              <a:t>Creamos procesos de gestión automatizados, agentes GPT y flujos de prospección conectados a sistemas y plataformas.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F53A4-3314-4FDE-96E3-15F9DA1D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05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42C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C26FF-C85A-422B-A024-C5CD3715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Dashboards personalizados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72CB1-CA8B-4168-9259-C522022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011">
                    <a:alpha val="78000"/>
                  </a:srgbClr>
                </a:solidFill>
              </a:defRPr>
            </a:pPr>
            <a:r>
              <a:rPr sz="1200" b="0">
                <a:solidFill>
                  <a:srgbClr val="0F1011">
                    <a:alpha val="78000"/>
                  </a:srgbClr>
                </a:solidFill>
              </a:rPr>
              <a:t>Hacemos seguimiento a KPI, construimos métricas calculadas y armamos dashboards hechos para cada operación.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C5B75-CEDB-420E-BD09-0B87BB77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5105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0B8F6-DD62-46B4-93CE-6E3182A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Contenido generado con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5E68D-A6AD-4FB5-98D4-1319CFC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3870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011">
                    <a:alpha val="78000"/>
                  </a:srgbClr>
                </a:solidFill>
              </a:defRPr>
            </a:pPr>
            <a:r>
              <a:rPr sz="1200" b="0">
                <a:solidFill>
                  <a:srgbClr val="0F1011">
                    <a:alpha val="78000"/>
                  </a:srgbClr>
                </a:solidFill>
              </a:rPr>
              <a:t>Diseñamos experiencias audiovisuales asistidas por IA: avatares, videos, guiones y materiales interactivos.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BFAD5-1C4F-40BE-BA0D-08E32848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83F66-E57D-4A66-A416-58291952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84499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5EB89-6C55-43AD-A822-B1350AAE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A5193-5F78-409E-BC4F-B7EB4FCE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CAPACIDADES APLICADAS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C01E8-76D0-46E2-BBD9-F96BB58A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90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Estrategia, automatización y ejecución</a:t>
            </a:r>
          </a:p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aterrizadas a frentes concretos.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10fc73670494a"/>
          <a:srcRect xmlns:a="http://schemas.openxmlformats.org/drawingml/2006/main" l="22229" t="0" r="22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685800"/>
            <a:ext cx="4572000" cy="5486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74712-F483-4D46-8E08-083C22AB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85800"/>
            <a:ext cx="45720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011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DC53C-C528-4D25-B097-76561DEB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7241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9CFBA-F199-49DF-A4E5-AA852FD4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27241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E8821-363B-4CAC-B985-184AEDA3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7241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218CE-EE6D-4F26-B2E3-F5785742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43400"/>
            <a:ext cx="27241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9D6FE-1C66-4178-B1E1-DF2AEA4E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c4727929b4d3f"/>
          <a:stretch xmlns:a="http://schemas.openxmlformats.org/drawingml/2006/main"/>
        </p:blipFill>
        <p:spPr>
          <a:xfrm xmlns:a="http://schemas.openxmlformats.org/drawingml/2006/main">
            <a:off x="1009650" y="28765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03891-9848-4E59-B723-80C2608A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011"/>
                </a:solidFill>
              </a:defRPr>
            </a:pPr>
            <a:r>
              <a:rPr sz="1575" b="1">
                <a:solidFill>
                  <a:srgbClr val="0F1011"/>
                </a:solidFill>
              </a:rPr>
              <a:t>Marketing externo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C2F52-EBFF-4816-921C-F1D65210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Estrategia de generación de demanda, contenidos, campañas, sitios y seguimiento comercial.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2DCFA-08F5-4DAC-ADF1-04E029F5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8c6adac5a4431"/>
          <a:stretch xmlns:a="http://schemas.openxmlformats.org/drawingml/2006/main"/>
        </p:blipFill>
        <p:spPr>
          <a:xfrm xmlns:a="http://schemas.openxmlformats.org/drawingml/2006/main">
            <a:off x="3924300" y="28765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3AE55-F918-4100-9DC3-6B0C6DB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011"/>
                </a:solidFill>
              </a:defRPr>
            </a:pPr>
            <a:r>
              <a:rPr sz="1575" b="1">
                <a:solidFill>
                  <a:srgbClr val="0F1011"/>
                </a:solidFill>
              </a:rPr>
              <a:t>Automatización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C7DAA-F42B-465E-866E-1AB8CCD5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Prospección, soporte y operación conectada a CRM, ERP y procesos internos.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C1444-C3B9-4EE8-8248-DC355C08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0ebcb2f2043b4"/>
          <a:stretch xmlns:a="http://schemas.openxmlformats.org/drawingml/2006/main"/>
        </p:blipFill>
        <p:spPr>
          <a:xfrm xmlns:a="http://schemas.openxmlformats.org/drawingml/2006/main">
            <a:off x="1009650" y="46482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A93AE-7C0A-4F46-B303-EC426CCE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52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Dashboards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16B0A-B203-47AE-AF2B-45B72944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84000"/>
                  </a:srgbClr>
                </a:solidFill>
              </a:defRPr>
            </a:pPr>
            <a:r>
              <a:rPr sz="1050" b="0">
                <a:solidFill>
                  <a:srgbClr val="FFFFFF">
                    <a:alpha val="84000"/>
                  </a:srgbClr>
                </a:solidFill>
              </a:rPr>
              <a:t>Seguimiento de KPI, métricas calculadas y reportes accionables para cada cliente.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A9BD2-AEBE-4287-A506-E3F35FEF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ca7ce79534e44"/>
          <a:stretch xmlns:a="http://schemas.openxmlformats.org/drawingml/2006/main"/>
        </p:blipFill>
        <p:spPr>
          <a:xfrm xmlns:a="http://schemas.openxmlformats.org/drawingml/2006/main">
            <a:off x="3924300" y="46482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6B672-981C-4F53-8901-2814ACEF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IA audiovisual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C6684C-F135-403C-80D1-DE4DE59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05400"/>
            <a:ext cx="2209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84000"/>
                  </a:srgbClr>
                </a:solidFill>
              </a:defRPr>
            </a:pPr>
            <a:r>
              <a:rPr sz="1050" b="0">
                <a:solidFill>
                  <a:srgbClr val="FFFFFF">
                    <a:alpha val="84000"/>
                  </a:srgbClr>
                </a:solidFill>
              </a:rPr>
              <a:t>Avatares, video, guiones y experiencias interactivas asistidas por 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A4FC3-AEBF-4BEB-9DCA-1D796318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F3C02-FB3A-46DD-AF6C-761D74C2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10523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DAB7C-DAC5-4788-B40B-4793F3F6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3d5dd724f49a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722E5-6DB5-406E-88A0-ED436405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20DD5-329C-4A53-9CF9-072771C7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PROYECTOS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8318A-4839-4912-81DA-18CEA6D9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011"/>
                </a:solidFill>
              </a:defRPr>
            </a:pPr>
            <a:r>
              <a:rPr sz="2625" b="1">
                <a:solidFill>
                  <a:srgbClr val="0F1011"/>
                </a:solidFill>
              </a:rPr>
              <a:t>Desarrollamos sitios, plataformas</a:t>
            </a:r>
          </a:p>
          <a:p xmlns:a="http://schemas.openxmlformats.org/drawingml/2006/main">
            <a:pPr algn="l">
              <a:defRPr sz="2625" b="1">
                <a:solidFill>
                  <a:srgbClr val="0F1011"/>
                </a:solidFill>
              </a:defRPr>
            </a:pPr>
            <a:r>
              <a:rPr sz="2625" b="1">
                <a:solidFill>
                  <a:srgbClr val="0F1011"/>
                </a:solidFill>
              </a:rPr>
              <a:t>integradas y productos conectados.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26EC2-677B-4CCB-B312-7FAF01C9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717A"/>
                </a:solidFill>
              </a:defRPr>
            </a:pPr>
            <a:r>
              <a:rPr sz="1275" b="0">
                <a:solidFill>
                  <a:srgbClr val="71717A"/>
                </a:solidFill>
              </a:rPr>
              <a:t>Desarrollo a medida, integraciones con CRM y ERP, y arquitecturas listas para escalar sin rehacer todo.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2c6442ee34a15"/>
          <a:srcRect xmlns:a="http://schemas.openxmlformats.org/drawingml/2006/main" l="3433" t="0" r="34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647700"/>
            <a:ext cx="4019550" cy="2876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B0E2A-F257-4366-B794-6CD03CB0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7700"/>
            <a:ext cx="4019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9F7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78380-0BD2-47CC-9D3B-8BB7568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Monch Monch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38E86-E225-4F58-8329-FA940353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39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Intermec Chile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E568A-2B83-479B-B88A-F8F17CDC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39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DNX Consultora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F3B6E-D39E-4CBC-BA27-3D5FE170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SprinTEC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ECA70-CAAA-46B5-BB56-16D2C05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39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Agrointegral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04911-FD04-4B58-A501-529D4BFB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1955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39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QR Agro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48E0F-ED42-49A8-9CAB-133BED15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Cogrowers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FDAEA-230C-431D-891D-646F50A2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1010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39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Naviera GV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13CB8-2D1E-4257-88A3-17172B8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10100"/>
            <a:ext cx="1543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39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011"/>
                </a:solidFill>
              </a:defRPr>
            </a:pPr>
            <a:r>
              <a:rPr sz="900" b="1">
                <a:solidFill>
                  <a:srgbClr val="0F1011"/>
                </a:solidFill>
              </a:rPr>
              <a:t>Mutualidades de Chile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42D10-F721-4B94-9226-1585EC35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44577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75294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E2473-5FCA-427B-99AA-8715E56D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3364f459e4183"/>
          <a:stretch xmlns:a="http://schemas.openxmlformats.org/drawingml/2006/main"/>
        </p:blipFill>
        <p:spPr>
          <a:xfrm xmlns:a="http://schemas.openxmlformats.org/drawingml/2006/main">
            <a:off x="7429500" y="440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8F96A-15B6-4A68-830D-8C9926D0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011"/>
                </a:solidFill>
              </a:defRPr>
            </a:pPr>
            <a:r>
              <a:rPr sz="1950" b="1">
                <a:solidFill>
                  <a:srgbClr val="0F1011"/>
                </a:solidFill>
              </a:rPr>
              <a:t>Qué construimos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E886D-C92D-4515-8DC0-B9C6A884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00600"/>
            <a:ext cx="3429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F0F12-0A50-4D24-BE24-7D903DAD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291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</a:defRPr>
            </a:pPr>
            <a:r>
              <a:rPr sz="975" b="0">
                <a:solidFill>
                  <a:srgbClr val="71717A"/>
                </a:solidFill>
              </a:rPr>
              <a:t>Catálogos, CMS y APIs conectadas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A8BDF-9013-40DB-99AF-162BA75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E90C38-B1F2-485D-B8AF-D0B20E81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3429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006B0-03C7-4DC0-82CC-22A7EBFE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577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</a:defRPr>
            </a:pPr>
            <a:r>
              <a:rPr sz="975" b="0">
                <a:solidFill>
                  <a:srgbClr val="71717A"/>
                </a:solidFill>
              </a:rPr>
              <a:t>Frontends desacoplados y flexibles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A2518-F7A0-45FD-9F44-74C588AD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733F1B-3229-447F-9694-9A97EF2B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57800"/>
            <a:ext cx="3429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DB243-57A1-403F-BC87-266EB487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863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</a:defRPr>
            </a:pPr>
            <a:r>
              <a:rPr sz="975" b="0">
                <a:solidFill>
                  <a:srgbClr val="71717A"/>
                </a:solidFill>
              </a:rPr>
              <a:t>Integraciones comerciales y operativas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14B545-D48C-4F80-A570-EAE50C15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24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B5B2CC-432F-4E72-8C7E-31236FF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86400"/>
            <a:ext cx="3429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51818A-49D5-4B8F-A545-8F3A4B6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</a:defRPr>
            </a:pPr>
            <a:r>
              <a:rPr sz="975" b="0">
                <a:solidFill>
                  <a:srgbClr val="71717A"/>
                </a:solidFill>
              </a:rPr>
              <a:t>Iteración rápida con uso real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027F12-0730-45B3-B6BE-A6F6FB06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B9534F-B798-44AE-9408-3C3DFC2C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D84615-B3DB-4BBD-927C-7E11B2F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03833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D58D0-E124-4BAD-9D8D-033A4E60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252C2-AAEE-4C3B-B3E8-855974B9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FORMA DE TRABAJAR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F04BE-9F80-41BB-85E4-DB929024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Trabajamos cerca de los equipos,</a:t>
            </a:r>
          </a:p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con foco en claridad, iteración y entrega continua.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910d86ad34058"/>
          <a:srcRect xmlns:a="http://schemas.openxmlformats.org/drawingml/2006/main" l="0" t="279" r="0" b="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609600"/>
            <a:ext cx="3276600" cy="2171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8981-74AA-4E67-B28C-BCBE321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FFFFFF">
                <a:alpha val="65882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7D0DC-BC7B-4719-8DD6-FE28A9C1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9F7"/>
                </a:solidFill>
              </a:defRPr>
            </a:pPr>
            <a:r>
              <a:rPr sz="1125" b="1">
                <a:solidFill>
                  <a:srgbClr val="5869F7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2969F-07DD-41A8-A047-9D75F606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011"/>
                </a:solidFill>
              </a:defRPr>
            </a:pPr>
            <a:r>
              <a:rPr sz="1575" b="1">
                <a:solidFill>
                  <a:srgbClr val="0F1011"/>
                </a:solidFill>
              </a:rPr>
              <a:t>Diagnóstico rápido y alineación estratégica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5FACF-93BC-4FA4-BDF1-D284F47D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14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Entendemos el contexto del negocio y priorizamos acciones de impacto inmediato.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324D6-B2A0-4963-9F97-219AD042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FFFFFF">
                <a:alpha val="65882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3BAE7-B4A3-49C0-9320-24D4FCB8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9F7"/>
                </a:solidFill>
              </a:defRPr>
            </a:pPr>
            <a:r>
              <a:rPr sz="1125" b="1">
                <a:solidFill>
                  <a:srgbClr val="5869F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99E68-64F6-46FA-BE8A-49E8012B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011"/>
                </a:solidFill>
              </a:defRPr>
            </a:pPr>
            <a:r>
              <a:rPr sz="1575" b="1">
                <a:solidFill>
                  <a:srgbClr val="0F1011"/>
                </a:solidFill>
              </a:rPr>
              <a:t>Prototipado y validación temprana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BDCB1-BF2B-496D-BDE0-F5760F6B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195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Convertimos ideas en versiones funcionales para probar rápido y aprender antes de escalar.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F81D4-4FCB-472C-8D72-4B8155B4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FFFFFF">
                <a:alpha val="65882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63988-2BF8-4A12-90F2-0F76B420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9F7"/>
                </a:solidFill>
              </a:defRPr>
            </a:pPr>
            <a:r>
              <a:rPr sz="1125" b="1">
                <a:solidFill>
                  <a:srgbClr val="5869F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5583F-C205-4FB4-97EA-39DE711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24350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011"/>
                </a:solidFill>
              </a:defRPr>
            </a:pPr>
            <a:r>
              <a:rPr sz="1575" b="1">
                <a:solidFill>
                  <a:srgbClr val="0F1011"/>
                </a:solidFill>
              </a:rPr>
              <a:t>Implementación en ciclos cortos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EB808-D5FB-42B5-A66C-B4966734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243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Desarrollamos por etapas, entregando avances medibles y ajustables.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F2808-38C3-4B45-B26E-83F7D351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FFFFFF">
                <a:alpha val="6588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0EF24-AB12-4195-8277-D975F80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9F7"/>
                </a:solidFill>
              </a:defRPr>
            </a:pPr>
            <a:r>
              <a:rPr sz="1125" b="1">
                <a:solidFill>
                  <a:srgbClr val="5869F7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C45ED-45CE-4154-9CF2-CF44CD51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011"/>
                </a:solidFill>
              </a:defRPr>
            </a:pPr>
            <a:r>
              <a:rPr sz="1575" b="1">
                <a:solidFill>
                  <a:srgbClr val="0F1011"/>
                </a:solidFill>
              </a:rPr>
              <a:t>Medición y acompañamiento operativo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1EBD6-DAAD-4C99-A2F8-CA038460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292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Seguimos el desempeño de cada entrega para asegurar adopción y continuidad.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44CD2-E235-40FA-943E-0827251E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FFFFFF">
                <a:alpha val="65882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245E0-88D4-4B43-ABFA-0E666361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869F7"/>
                </a:solidFill>
              </a:defRPr>
            </a:pPr>
            <a:r>
              <a:rPr sz="1125" b="1">
                <a:solidFill>
                  <a:srgbClr val="5869F7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D1321-1D66-4184-AE13-28169F61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34050"/>
            <a:ext cx="386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011"/>
                </a:solidFill>
              </a:defRPr>
            </a:pPr>
            <a:r>
              <a:rPr sz="1575" b="1">
                <a:solidFill>
                  <a:srgbClr val="0F1011"/>
                </a:solidFill>
              </a:rPr>
              <a:t>Mejora continua y escalamiento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5EA43-9DDA-4B31-9B85-375B2F44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340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Extendemos soluciones a más áreas, usuarios o mercados manteniendo eficiencia y control.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A317C-ABBC-4398-B301-23262014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EFC62-209D-4E0A-85F8-71F2C6D8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01466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A8BE8-FCB1-4C0F-A43C-422BD197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871E2-1360-4E52-AD9B-9CD6C8F1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POR QUÉ NLACE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87369-FC94-404A-93AE-788FAEAC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95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011"/>
                </a:solidFill>
              </a:defRPr>
            </a:pPr>
            <a:r>
              <a:rPr sz="3000" b="1">
                <a:solidFill>
                  <a:srgbClr val="0F1011"/>
                </a:solidFill>
              </a:rPr>
              <a:t>Cuatro razones para trabajar</a:t>
            </a:r>
          </a:p>
          <a:p xmlns:a="http://schemas.openxmlformats.org/drawingml/2006/main">
            <a:pPr algn="l">
              <a:defRPr sz="3000" b="1">
                <a:solidFill>
                  <a:srgbClr val="0F1011"/>
                </a:solidFill>
              </a:defRPr>
            </a:pPr>
            <a:r>
              <a:rPr sz="3000" b="1">
                <a:solidFill>
                  <a:srgbClr val="0F1011"/>
                </a:solidFill>
              </a:rPr>
              <a:t>con nosotros.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4E47B-8642-4A11-AC0E-7264889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105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DA1EF-7E6C-4565-AED4-46C9C8D9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Resultados sostenibles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11315-4B9A-4E01-AD9B-5D76D4A5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32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4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4000"/>
                  </a:srgbClr>
                </a:solidFill>
              </a:rPr>
              <a:t>Medimos impacto, ajustamos y acompañamos cada proceso de mejora.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DD420-75AE-4828-8F4D-26982F91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5105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C530B-BF6B-4235-97D4-1E52BD6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Confianza y cercanía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9F580-D011-4105-ABE2-81780BA3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432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4000"/>
                  </a:srgbClr>
                </a:solidFill>
              </a:defRPr>
            </a:pPr>
            <a:r>
              <a:rPr sz="1200" b="0">
                <a:solidFill>
                  <a:srgbClr val="FFFFFF">
                    <a:alpha val="84000"/>
                  </a:srgbClr>
                </a:solidFill>
              </a:rPr>
              <a:t>Trabajamos como parte de tu equipo, con foco en objetivos concretos.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159F4-9C5F-413D-9D5D-AEA495B0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105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3E4C1-CD68-426F-B7E3-C2405CD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011"/>
                </a:solidFill>
              </a:defRPr>
            </a:pPr>
            <a:r>
              <a:rPr sz="2100" b="1">
                <a:solidFill>
                  <a:srgbClr val="0F1011"/>
                </a:solidFill>
              </a:rPr>
              <a:t>Visión estratégica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1911F-C372-4BBC-B5C9-1E9750F6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32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011">
                    <a:alpha val="78000"/>
                  </a:srgbClr>
                </a:solidFill>
              </a:defRPr>
            </a:pPr>
            <a:r>
              <a:rPr sz="1200" b="0">
                <a:solidFill>
                  <a:srgbClr val="0F1011">
                    <a:alpha val="78000"/>
                  </a:srgbClr>
                </a:solidFill>
              </a:rPr>
              <a:t>Alineamos la tecnología al negocio, no al revés.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937E7-4A49-498E-8C33-B7EE82B8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51054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42C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2A7E9-54D1-448C-BFB7-1394B383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011"/>
                </a:solidFill>
              </a:defRPr>
            </a:pPr>
            <a:r>
              <a:rPr sz="2100" b="1">
                <a:solidFill>
                  <a:srgbClr val="0F1011"/>
                </a:solidFill>
              </a:rPr>
              <a:t>Ejecución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5ABB0-F494-4F4E-BDE8-8D9577F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95850"/>
            <a:ext cx="4324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011">
                    <a:alpha val="78000"/>
                  </a:srgbClr>
                </a:solidFill>
              </a:defRPr>
            </a:pPr>
            <a:r>
              <a:rPr sz="1200" b="0">
                <a:solidFill>
                  <a:srgbClr val="0F1011">
                    <a:alpha val="78000"/>
                  </a:srgbClr>
                </a:solidFill>
              </a:rPr>
              <a:t>Diseñamos, desarrollamos y operamos soluciones que funcionan en la práctica.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77BF4-164A-4F8F-ACCE-E3C0A599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E555E-A8BF-414F-990F-D9D5BBF8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67277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043018d304b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9C57F-BD99-4574-95EF-A243B91C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9F7">
              <a:alpha val="9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5cc0358f9448c"/>
          <a:srcRect xmlns:a="http://schemas.openxmlformats.org/drawingml/2006/main" l="25099" t="0" r="250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A7E27-FF64-4A1A-A024-278DB5F3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67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9F7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15108-E09F-48AF-A979-8E8A316E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72000"/>
                  </a:srgbClr>
                </a:solidFill>
              </a:defRPr>
            </a:pPr>
            <a:r>
              <a:rPr sz="825" b="0">
                <a:solidFill>
                  <a:srgbClr val="FFFFFF">
                    <a:alpha val="72000"/>
                  </a:srgbClr>
                </a:solidFill>
              </a:rPr>
              <a:t>EXPERIENCIA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3A9B3-B4E0-462F-B4D1-DB01FB5B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Nuestros últimos proyectos.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4F1E0-9D72-4E3D-B504-7A7D1140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84000"/>
                  </a:srgbClr>
                </a:solidFill>
              </a:defRPr>
            </a:pPr>
            <a:r>
              <a:rPr sz="1275" b="0">
                <a:solidFill>
                  <a:srgbClr val="FFFFFF">
                    <a:alpha val="84000"/>
                  </a:srgbClr>
                </a:solidFill>
              </a:rPr>
              <a:t>Seleccionamos algunos ejemplos que muestran cómo se materializa nuestra mezcla de estrategia, integración y producto.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4DF6A-6DB0-4AB7-B61A-2627BB72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20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0D5D7-E55A-417E-8045-CC4E7FE8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5adeb3fc342a1"/>
          <a:stretch xmlns:a="http://schemas.openxmlformats.org/drawingml/2006/main"/>
        </p:blipFill>
        <p:spPr>
          <a:xfrm xmlns:a="http://schemas.openxmlformats.org/drawingml/2006/main">
            <a:off x="971550" y="3295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18D19-C39C-4572-AE81-EEA554A1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5B2A9-FEE8-430C-B3BE-6251368B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82000"/>
                  </a:srgbClr>
                </a:solidFill>
              </a:defRPr>
            </a:pPr>
            <a:r>
              <a:rPr sz="1050" b="0">
                <a:solidFill>
                  <a:srgbClr val="FFFFFF">
                    <a:alpha val="82000"/>
                  </a:srgbClr>
                </a:solidFill>
              </a:rPr>
              <a:t>Tiendas, sistemas comerciales y experiencias conectadas.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FAB4F-FF21-4AB2-9518-6A40C7E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220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CC723-A6BD-43B6-B2EE-CC0A03EB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04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1d624ed9f463d"/>
          <a:stretch xmlns:a="http://schemas.openxmlformats.org/drawingml/2006/main"/>
        </p:blipFill>
        <p:spPr>
          <a:xfrm xmlns:a="http://schemas.openxmlformats.org/drawingml/2006/main">
            <a:off x="3371850" y="3295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71574-EC3B-4501-B986-FC107D5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194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SaaS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8BBA3-ABA9-4031-BEF0-4CF1E561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576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82000"/>
                  </a:srgbClr>
                </a:solidFill>
              </a:defRPr>
            </a:pPr>
            <a:r>
              <a:rPr sz="1050" b="0">
                <a:solidFill>
                  <a:srgbClr val="FFFFFF">
                    <a:alpha val="82000"/>
                  </a:srgbClr>
                </a:solidFill>
              </a:rPr>
              <a:t>Herramientas que automatizan la operación y mejoran conversión.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82ACC-9CE9-405B-8361-5DEDA3C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0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4AC33-8EBF-49B8-9A0C-CFD5D32D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3e40a250d47d9"/>
          <a:stretch xmlns:a="http://schemas.openxmlformats.org/drawingml/2006/main"/>
        </p:blipFill>
        <p:spPr>
          <a:xfrm xmlns:a="http://schemas.openxmlformats.org/drawingml/2006/main">
            <a:off x="971550" y="46482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EC23C-6513-49A7-BACC-6BE054B0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Plataformas internas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272BF-C09A-4403-9FF9-70FEC5C2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82000"/>
                  </a:srgbClr>
                </a:solidFill>
              </a:defRPr>
            </a:pPr>
            <a:r>
              <a:rPr sz="1050" b="0">
                <a:solidFill>
                  <a:srgbClr val="FFFFFF">
                    <a:alpha val="82000"/>
                  </a:srgbClr>
                </a:solidFill>
              </a:rPr>
              <a:t>Soluciones propias para gestión, reporting y soporte.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921D8-EED0-4EAA-A80F-E24BE79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60000"/>
                  </a:srgbClr>
                </a:solidFill>
              </a:defRPr>
            </a:pPr>
            <a:r>
              <a:rPr sz="825" b="0">
                <a:solidFill>
                  <a:srgbClr val="FFFFFF">
                    <a:alpha val="60000"/>
                  </a:srgbClr>
                </a:solidFill>
              </a:rPr>
              <a:t>Credenciales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1A5D0-505E-4623-9352-EF01DD26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>
                    <a:alpha val="60000"/>
                  </a:srgbClr>
                </a:solidFill>
              </a:defRPr>
            </a:pPr>
            <a:r>
              <a:rPr sz="825" b="0">
                <a:solidFill>
                  <a:srgbClr val="FFFFFF">
                    <a:alpha val="60000"/>
                  </a:srgbClr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08892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5496A-31AC-4CD6-AF5F-79D31087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0D5E7-75AD-4BD3-ABDC-BF198EBB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CASOS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84942-6282-4982-8A36-66AE784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Proyectos destacados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EF7E0-99DA-43D7-A69E-B6CFE8CA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F22FD-70E1-4F1F-BB1D-D8305452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Monch Monch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E7E77-832B-4E76-A302-6ABD9B50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https://monchmonch.shop/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03276-CADB-4E85-8BCC-29211C9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Diseñamos y desarrollamos su eCommerce en Shopify, integrado vía API a su ecosistema comercial para operar ventas en EE.UU. y Canadá.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09E5F-C2D3-4535-AEE0-42EE835F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2B036-D6DA-497D-B66D-DFD3CB53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Intermec Chile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F81CC-B089-4D41-BCA9-83147FDB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http://intermec.cl/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7CE86-C72B-4747-B0AF-014EEFEB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Nuevo sitio con frontend desacoplado desde un CMS headless, sincronizado con catálogo de productos vía API desde Ingram Micro.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8F215-B245-4C22-8BD6-30995031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BCFF3-9667-4FD7-A4BB-2E14C399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Brand Factory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9BEB4-B47D-4AE2-9A14-6682D698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https://brandfactory.nlace.com/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31CD6-9007-4311-AD73-7FFC3E9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Sistema construido junto a BrandFactory para desarrollar Brand DNA, relato e insights con un motor de IA propio llamado Brand Core.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07ACD-9AEC-4F02-9C87-083671C1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B47B8-7033-4211-8645-45190931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Cierro.app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1823B-A363-4239-8810-06B3FE6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https://www.cierro.app/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5BE10-54FC-4743-BBE7-7EDCBE2A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SaaS para generar propuestas comerciales con IA a partir del conocimiento de la empresa y hacer seguimiento comercial de cada envío.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74B5A-BFD4-468C-ADBA-3AC77F9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CFB60-13B7-457D-A624-D5115D4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53343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7BBF6-B142-467D-A67C-C02BC55E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BF168-8333-42D5-9F38-AFBEE7F6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C624B"/>
                </a:solidFill>
              </a:defRPr>
            </a:pPr>
            <a:r>
              <a:rPr sz="825" b="0">
                <a:solidFill>
                  <a:srgbClr val="FC624B"/>
                </a:solidFill>
              </a:rPr>
              <a:t>PLATAFORMAS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E54CB-105C-4BB2-92C0-089DD9D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85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Proyectos destacados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8D408-238F-4FF7-9EFC-7AD4AFCF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53582-8DEA-42E2-B26A-D5F984AB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firmo.email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A43D2-7ED7-490B-A99E-6C3E54DA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C624B"/>
                </a:solidFill>
              </a:defRPr>
            </a:pPr>
            <a:r>
              <a:rPr sz="825" b="0">
                <a:solidFill>
                  <a:srgbClr val="FC624B"/>
                </a:solidFill>
              </a:rPr>
              <a:t>https://www.firmo.email/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1BCCB-5FD4-4031-B5D8-D32199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Herramienta gratuita para crear y administrar firmas de correo. Resuelve una necesidad operativa y además funciona como lead magnet para NLACE.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6A63D-71BA-44FB-A113-AAEC1232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5A5CD-7FE6-4DEC-9D8A-B5B903D0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Agentes de WhatsApp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297D-AB2F-4862-999C-A9FDFD5A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C624B"/>
                </a:solidFill>
              </a:defRPr>
            </a:pPr>
            <a:r>
              <a:rPr sz="825" b="0">
                <a:solidFill>
                  <a:srgbClr val="FC624B"/>
                </a:solidFill>
              </a:rPr>
              <a:t>Plataforma propia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DC291-53A6-4BBF-B8E0-A6DDFD7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Sistema multi LLM para atención, ventas, prospección y nutrición de leads, conectado a CRM, ERP y plataformas hechas a medida.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CA5F2-CD75-442E-9E4D-8677D54E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7361D-FA79-452B-8AA2-64E990DF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Inteligencia inmobiliaria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1095F-E578-42DA-B047-7B34EA31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C624B"/>
                </a:solidFill>
              </a:defRPr>
            </a:pPr>
            <a:r>
              <a:rPr sz="825" b="0">
                <a:solidFill>
                  <a:srgbClr val="FC624B"/>
                </a:solidFill>
              </a:rPr>
              <a:t>Proyecto propio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6FCE9-9B4D-4B6B-9834-94C44C11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Sistema de recopilación y seguimiento de datos inmobiliarios para crear reportes y apoyar decisiones comerciales con 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C2A6D-21C2-44D2-BFB3-1BD51CC7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51054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BDD6F-328A-42E4-9AAB-EEF596CB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011"/>
                </a:solidFill>
              </a:defRPr>
            </a:pPr>
            <a:r>
              <a:rPr sz="1800" b="1">
                <a:solidFill>
                  <a:srgbClr val="0F1011"/>
                </a:solidFill>
              </a:rPr>
              <a:t>Mission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B9D2A-3F3A-4327-9A5F-0B992D7D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C624B"/>
                </a:solidFill>
              </a:defRPr>
            </a:pPr>
            <a:r>
              <a:rPr sz="825" b="0">
                <a:solidFill>
                  <a:srgbClr val="FC624B"/>
                </a:solidFill>
              </a:rPr>
              <a:t>Sistema interno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8D008-C8E6-4B2B-BCA3-E70CFD47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59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717A"/>
                </a:solidFill>
              </a:defRPr>
            </a:pPr>
            <a:r>
              <a:rPr sz="1050" b="0">
                <a:solidFill>
                  <a:srgbClr val="71717A"/>
                </a:solidFill>
              </a:rPr>
              <a:t>Plataforma que consolida múltiples fuentes, genera informes automatizados y redacta comunicaciones para seguimiento de KPI y objetivos.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BEE61-6B20-49D8-951B-9BEB7D0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1EE83-899B-4D4D-83F5-1EF87D00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62604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2ba264eca451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4E1E5-D0CB-49FD-B6AE-4F7A82A6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631A3-DBBB-4842-B722-6B338A81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17AF"/>
                </a:solidFill>
              </a:defRPr>
            </a:pPr>
            <a:r>
              <a:rPr sz="825" b="0">
                <a:solidFill>
                  <a:srgbClr val="B717AF"/>
                </a:solidFill>
              </a:rPr>
              <a:t>ACTIVOS PROPIOS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A7711-7681-4684-BE97-0346430D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También construimos productos,</a:t>
            </a:r>
          </a:p>
          <a:p xmlns:a="http://schemas.openxmlformats.org/drawingml/2006/main">
            <a:pPr algn="l">
              <a:defRPr sz="2850" b="1">
                <a:solidFill>
                  <a:srgbClr val="0F1011"/>
                </a:solidFill>
              </a:defRPr>
            </a:pPr>
            <a:r>
              <a:rPr sz="2850" b="1">
                <a:solidFill>
                  <a:srgbClr val="0F1011"/>
                </a:solidFill>
              </a:rPr>
              <a:t>frameworks y sistemas internos que fortalecen la ejecución.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4f4a624f84485"/>
          <a:srcRect xmlns:a="http://schemas.openxmlformats.org/drawingml/2006/main" l="0" t="1385" r="0" b="1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647700"/>
            <a:ext cx="340995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16844-89AB-48ED-A12D-75939981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"/>
            <a:ext cx="34099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8E5BA-6054-46E3-84D1-2606293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6C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39D1-EBE7-4C0B-BB29-352380F0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5263a71384c69"/>
          <a:stretch xmlns:a="http://schemas.openxmlformats.org/drawingml/2006/main"/>
        </p:blipFill>
        <p:spPr>
          <a:xfrm xmlns:a="http://schemas.openxmlformats.org/drawingml/2006/main">
            <a:off x="1009650" y="3390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2C39A-E03F-4EEF-8776-4DD7B168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011"/>
                </a:solidFill>
              </a:defRPr>
            </a:pPr>
            <a:r>
              <a:rPr sz="1650" b="1">
                <a:solidFill>
                  <a:srgbClr val="0F1011"/>
                </a:solidFill>
              </a:rPr>
              <a:t>Diagnóstico de adopción 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5A0C3-1D33-4735-A062-5C98941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011">
                    <a:alpha val="78000"/>
                  </a:srgbClr>
                </a:solidFill>
              </a:defRPr>
            </a:pPr>
            <a:r>
              <a:rPr sz="1050" b="0">
                <a:solidFill>
                  <a:srgbClr val="0F1011">
                    <a:alpha val="78000"/>
                  </a:srgbClr>
                </a:solidFill>
              </a:rPr>
              <a:t>Sistema basado en metodologías comprobadas para evaluar madurez y generar oportunidades comerciales calificadas.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AF687-F2E2-4D69-B7BA-A1A5507F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5869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DB638-9187-4607-8E38-CAE503AE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ad6e1b8454cd3"/>
          <a:stretch xmlns:a="http://schemas.openxmlformats.org/drawingml/2006/main"/>
        </p:blipFill>
        <p:spPr>
          <a:xfrm xmlns:a="http://schemas.openxmlformats.org/drawingml/2006/main">
            <a:off x="6419850" y="3390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AE0F3-2E1E-4793-AAA2-30173C4C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NLACE UI 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16D01-E053-4F43-ABA2-10BD7CBD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84000"/>
                  </a:srgbClr>
                </a:solidFill>
              </a:defRPr>
            </a:pPr>
            <a:r>
              <a:rPr sz="1050" b="0">
                <a:solidFill>
                  <a:srgbClr val="FFFFFF">
                    <a:alpha val="84000"/>
                  </a:srgbClr>
                </a:solidFill>
              </a:rPr>
              <a:t>Sistema de diseño propio para construir productos digitales con Tailwind y skills para agentes de 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94C94-E089-46BF-A2A0-165CBA8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C6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23E44-7F2B-4060-8BA3-7446F2A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2b027cd6f4d16"/>
          <a:stretch xmlns:a="http://schemas.openxmlformats.org/drawingml/2006/main"/>
        </p:blipFill>
        <p:spPr>
          <a:xfrm xmlns:a="http://schemas.openxmlformats.org/drawingml/2006/main">
            <a:off x="1009650" y="4876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27BC6-FD0C-4EA7-A036-FEEFE8E0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815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Casas Chile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6333D-AA7E-4A52-A865-14311286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84000"/>
                  </a:srgbClr>
                </a:solidFill>
              </a:defRPr>
            </a:pPr>
            <a:r>
              <a:rPr sz="1050" b="0">
                <a:solidFill>
                  <a:srgbClr val="FFFFFF">
                    <a:alpha val="84000"/>
                  </a:srgbClr>
                </a:solidFill>
              </a:rPr>
              <a:t>Plataforma de atención y tickets conectada a agentes de WhatsApp para resolver consultas y derivar casos al equipo humano.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3237C-7653-425D-A3BB-7AB73519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72000"/>
            <a:ext cx="5105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42C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D4B54-7FCE-4E41-A470-A491C669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89604ec2440bd"/>
          <a:stretch xmlns:a="http://schemas.openxmlformats.org/drawingml/2006/main"/>
        </p:blipFill>
        <p:spPr>
          <a:xfrm xmlns:a="http://schemas.openxmlformats.org/drawingml/2006/main">
            <a:off x="6419850" y="4876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084FC-A86F-4484-99AA-DA301BE4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815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011"/>
                </a:solidFill>
              </a:defRPr>
            </a:pPr>
            <a:r>
              <a:rPr sz="1650" b="1">
                <a:solidFill>
                  <a:srgbClr val="0F1011"/>
                </a:solidFill>
              </a:rPr>
              <a:t>Ecosistema conectado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43C79F-200F-42FB-A488-38F249A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011">
                    <a:alpha val="78000"/>
                  </a:srgbClr>
                </a:solidFill>
              </a:defRPr>
            </a:pPr>
            <a:r>
              <a:rPr sz="1050" b="0">
                <a:solidFill>
                  <a:srgbClr val="0F1011">
                    <a:alpha val="78000"/>
                  </a:srgbClr>
                </a:solidFill>
              </a:rPr>
              <a:t>Productos y herramientas que comparten datos, automatizan seguimiento y amplifican el aprendizaje entre proyectos.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A296E-9FBF-4C03-A31B-2952E743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DBD490-736D-4DDC-99F7-9C831154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929971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3cae586b34d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13293-2FA7-45B6-92DE-41B6F899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acac1f243400e"/>
          <a:srcRect xmlns:a="http://schemas.openxmlformats.org/drawingml/2006/main" l="23933" t="0" r="23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323850"/>
            <a:ext cx="4857750" cy="6210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1EA1C-3D53-4A86-8B9D-B0867328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6286500" cy="621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B3093-55F3-418A-A166-5869DEA2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9F7"/>
                </a:solidFill>
              </a:defRPr>
            </a:pPr>
            <a:r>
              <a:rPr sz="825" b="0">
                <a:solidFill>
                  <a:srgbClr val="5869F7"/>
                </a:solidFill>
              </a:rPr>
              <a:t>CIERRE ESTRATÉGICO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27D3B-CD6C-4D16-9DD7-EE3793DD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362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011"/>
                </a:solidFill>
              </a:defRPr>
            </a:pPr>
            <a:r>
              <a:rPr sz="3150" b="1">
                <a:solidFill>
                  <a:srgbClr val="0F1011"/>
                </a:solidFill>
              </a:rPr>
              <a:t>Pasamos de iniciativas</a:t>
            </a:r>
          </a:p>
          <a:p xmlns:a="http://schemas.openxmlformats.org/drawingml/2006/main">
            <a:pPr algn="l">
              <a:defRPr sz="3150" b="1">
                <a:solidFill>
                  <a:srgbClr val="0F1011"/>
                </a:solidFill>
              </a:defRPr>
            </a:pPr>
            <a:r>
              <a:rPr sz="3150" b="1">
                <a:solidFill>
                  <a:srgbClr val="0F1011"/>
                </a:solidFill>
              </a:rPr>
              <a:t>sueltas a un sistema</a:t>
            </a:r>
          </a:p>
          <a:p xmlns:a="http://schemas.openxmlformats.org/drawingml/2006/main">
            <a:pPr algn="l">
              <a:defRPr sz="3150" b="1">
                <a:solidFill>
                  <a:srgbClr val="0F1011"/>
                </a:solidFill>
              </a:defRPr>
            </a:pPr>
            <a:r>
              <a:rPr sz="3150" b="1">
                <a:solidFill>
                  <a:srgbClr val="0F1011"/>
                </a:solidFill>
              </a:rPr>
              <a:t>comercial conectado.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B14A-328D-49EB-BD30-A18A70ED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248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1717A"/>
                </a:solidFill>
              </a:defRPr>
            </a:pPr>
            <a:r>
              <a:rPr sz="1425" b="0">
                <a:solidFill>
                  <a:srgbClr val="71717A"/>
                </a:solidFill>
              </a:rPr>
              <a:t>Eso permite vender mejor, operar con menos fricción y aprender más rápido.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9FA88-D9D3-4A69-AFA4-D55F9841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39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FFFFFF">
                <a:alpha val="94118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05E3D-9339-4216-9C68-3B895FAE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9F7"/>
                </a:solidFill>
              </a:defRPr>
            </a:pPr>
            <a:r>
              <a:rPr sz="1050" b="1">
                <a:solidFill>
                  <a:srgbClr val="5869F7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A11DD-4A8B-4B3B-8460-ED3F0BD9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81425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011"/>
                </a:solidFill>
              </a:defRPr>
            </a:pPr>
            <a:r>
              <a:rPr sz="1500" b="1">
                <a:solidFill>
                  <a:srgbClr val="0F1011"/>
                </a:solidFill>
              </a:rPr>
              <a:t>Claridad sobre qué procesos mover primero.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9CF5A-B5D7-4438-81EE-27A8D17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39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FFFFFF">
                <a:alpha val="94118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9A712-F56F-4608-8F07-ED730F9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9F7"/>
                </a:solidFill>
              </a:defRPr>
            </a:pPr>
            <a:r>
              <a:rPr sz="1050" b="1">
                <a:solidFill>
                  <a:srgbClr val="5869F7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C70A4-66D2-4065-886F-5BDF458B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011"/>
                </a:solidFill>
              </a:defRPr>
            </a:pPr>
            <a:r>
              <a:rPr sz="1500" b="1">
                <a:solidFill>
                  <a:srgbClr val="0F1011"/>
                </a:solidFill>
              </a:rPr>
              <a:t>Tecnología conectada al negocio real.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4BA44-2E0F-4B0A-8DF8-F07361D6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39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FFFFFF">
                <a:alpha val="94118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7A727-52DC-4F46-B273-076B3BC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9F7"/>
                </a:solidFill>
              </a:defRPr>
            </a:pPr>
            <a:r>
              <a:rPr sz="1050" b="1">
                <a:solidFill>
                  <a:srgbClr val="5869F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1CACB-9879-4465-84B8-0F2E1FF2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38725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011"/>
                </a:solidFill>
              </a:defRPr>
            </a:pPr>
            <a:r>
              <a:rPr sz="1500" b="1">
                <a:solidFill>
                  <a:srgbClr val="0F1011"/>
                </a:solidFill>
              </a:rPr>
              <a:t>Automatización útil, no cosmética.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ADF97-89BA-42E3-9A28-5D401952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539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FFFFFF">
                <a:alpha val="94118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24E4E-D56D-411F-BFCA-CDFDE985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69F7"/>
                </a:solidFill>
              </a:defRPr>
            </a:pPr>
            <a:r>
              <a:rPr sz="1050" b="1">
                <a:solidFill>
                  <a:srgbClr val="5869F7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4BE48-1BCD-40E3-B363-5A4427DE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67375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011"/>
                </a:solidFill>
              </a:defRPr>
            </a:pPr>
            <a:r>
              <a:rPr sz="1500" b="1">
                <a:solidFill>
                  <a:srgbClr val="0F1011"/>
                </a:solidFill>
              </a:rPr>
              <a:t>Acompañamiento para sostener resultados.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AF41C-0C13-4655-BE3F-D9ABBC56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Credenciales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66BDB-6404-411A-A348-716C466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51582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7A3FD-8CCD-4630-B695-5937A66F6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a5d62c82b4ef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57C1B-3A1B-4554-BE50-3A8A11D5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69F7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23431-68F1-4EB5-A37C-D306B1FC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oundRect">
            <a:avLst>
              <a:gd name="adj" fmla="val 1307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14595-5E1C-4604-920F-5854808D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C624B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cfbd3b35c4225"/>
          <a:stretch xmlns:a="http://schemas.openxmlformats.org/drawingml/2006/main"/>
        </p:blipFill>
        <p:spPr>
          <a:xfrm xmlns:a="http://schemas.openxmlformats.org/drawingml/2006/main">
            <a:off x="685800" y="666750"/>
            <a:ext cx="1409700" cy="28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C4C73-BED5-4142-8C12-C7F4953F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68000"/>
                  </a:srgbClr>
                </a:solidFill>
              </a:defRPr>
            </a:pPr>
            <a:r>
              <a:rPr sz="825" b="0">
                <a:solidFill>
                  <a:srgbClr val="FFFFFF">
                    <a:alpha val="68000"/>
                  </a:srgbClr>
                </a:solidFill>
              </a:rPr>
              <a:t>NLACE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4B21E-CF7C-4FDD-B082-E32A5669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90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Estrategia, tecnología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y contenido para empresas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que están redefiniendo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cómo comunican, venden y aprenden.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F4AA7-C10A-409F-AB25-D814E487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c0510ef2245fc"/>
          <a:stretch xmlns:a="http://schemas.openxmlformats.org/drawingml/2006/main"/>
        </p:blipFill>
        <p:spPr>
          <a:xfrm xmlns:a="http://schemas.openxmlformats.org/drawingml/2006/main">
            <a:off x="781050" y="54292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D5C5E-3717-4257-89AD-30473FA3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3276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Sigamos la conversación.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19E27-3060-4523-B585-4C4FB4BF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80000"/>
                  </a:srgbClr>
                </a:solidFill>
              </a:defRPr>
            </a:pPr>
            <a:r>
              <a:rPr sz="900" b="0">
                <a:solidFill>
                  <a:srgbClr val="FFFFFF">
                    <a:alpha val="80000"/>
                  </a:srgbClr>
                </a:solidFill>
              </a:rPr>
              <a:t>n l a c e . c o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4B99C-34ED-46CA-B26D-1686EBB3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768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88000"/>
                  </a:srgbClr>
                </a:solidFill>
              </a:defRPr>
            </a:pPr>
            <a:r>
              <a:rPr sz="1275" b="0">
                <a:solidFill>
                  <a:srgbClr val="FFFFFF">
                    <a:alpha val="88000"/>
                  </a:srgbClr>
                </a:solidFill>
              </a:rPr>
              <a:t>Sistema comercial, automatización, IA aplicada, plataformas y contenido.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3A857-A9FF-48B3-9993-BC67DC80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53100"/>
            <a:ext cx="1447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marketing y ventas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41EA5-CFF0-4C40-A1E9-B9D4D8B7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5310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software propio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D704E-2B15-4065-A01B-D7996842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753100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0" rIns="1143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IA aplicada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6664D-17CD-4DC6-A53A-B9F5C972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>
                    <a:alpha val="60000"/>
                  </a:srgbClr>
                </a:solidFill>
              </a:defRPr>
            </a:pPr>
            <a:r>
              <a:rPr sz="825" b="0">
                <a:solidFill>
                  <a:srgbClr val="FFFFFF">
                    <a:alpha val="60000"/>
                  </a:srgbClr>
                </a:solidFill>
              </a:rPr>
              <a:t>Credenciales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257E2-45F0-4762-8DF5-B1606EAA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>
                    <a:alpha val="60000"/>
                  </a:srgbClr>
                </a:solidFill>
              </a:defRPr>
            </a:pPr>
            <a:r>
              <a:rPr sz="825" b="0">
                <a:solidFill>
                  <a:srgbClr val="FFFFFF">
                    <a:alpha val="60000"/>
                  </a:srgbClr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68947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2026-04-21T15:31:29.0180000Z</dcterms:created>
  <dcterms:modified xsi:type="dcterms:W3CDTF">2026-04-21T15:31:29.0180000Z</dcterms:modified>
</coreProperties>
</file>